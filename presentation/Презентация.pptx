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64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71" r:id="rId11"/>
    <p:sldId id="265" r:id="rId12"/>
    <p:sldId id="272" r:id="rId13"/>
    <p:sldId id="273" r:id="rId14"/>
    <p:sldId id="266" r:id="rId15"/>
    <p:sldId id="275" r:id="rId16"/>
    <p:sldId id="274" r:id="rId17"/>
    <p:sldId id="276" r:id="rId18"/>
    <p:sldId id="277" r:id="rId19"/>
    <p:sldId id="268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7" d="100"/>
          <a:sy n="157" d="100"/>
        </p:scale>
        <p:origin x="89" y="9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432bfe2e9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432bfe2e9e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32bfe2e9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32bfe2e9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10130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432bfe2e9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432bfe2e9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32bfe2e9e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32bfe2e9e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432bfe2e9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432bfe2e9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2bfe2e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32bfe2e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32bfe2e9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32bfe2e9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4148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585193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18991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40002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432bfe2e9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432bfe2e9e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7709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432bfe2e9e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432bfe2e9e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2254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2bfe2e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32bfe2e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06002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2bfe2e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32bfe2e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9171516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2bfe2e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32bfe2e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540292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432bfe2e9e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432bfe2e9e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03141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32bfe2e9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432bfe2e9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1824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B40FF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g"/><Relationship Id="rId5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21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rgbClr val="FFFF6B"/>
                </a:solidFill>
                <a:latin typeface="Roboto"/>
                <a:ea typeface="Roboto"/>
                <a:cs typeface="Roboto"/>
                <a:sym typeface="Roboto"/>
              </a:rPr>
              <a:t>Итоговый проект</a:t>
            </a:r>
            <a:endParaRPr dirty="0">
              <a:solidFill>
                <a:srgbClr val="FFFF6B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02525" y="2834125"/>
            <a:ext cx="5738949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Сравнение </a:t>
            </a:r>
            <a:r>
              <a:rPr lang="ru-RU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TabNet</a:t>
            </a:r>
            <a:r>
              <a:rPr lang="ru-RU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и классических подходов </a:t>
            </a:r>
            <a:endParaRPr lang="en-US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машинного обучения на табличных данных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5215" y="2484341"/>
            <a:ext cx="833935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50856" y="4229236"/>
            <a:ext cx="402350" cy="40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02972"/>
            <a:ext cx="402350" cy="404653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3"/>
          <p:cNvSpPr txBox="1"/>
          <p:nvPr/>
        </p:nvSpPr>
        <p:spPr>
          <a:xfrm>
            <a:off x="729816" y="288265"/>
            <a:ext cx="250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 НЕПРЕРЫВНОГО ОБРАЗОВАНИЯ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ФАКУЛЬТЕТ КОМПЬЮТЕРНЫХ НАУК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7748430" y="4648400"/>
            <a:ext cx="1140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lt1"/>
                </a:solidFill>
              </a:rPr>
              <a:t>cs.hse.ru/dpo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E61D797-CBB7-4556-82F6-1D1EEDFBD07B}"/>
              </a:ext>
            </a:extLst>
          </p:cNvPr>
          <p:cNvSpPr txBox="1"/>
          <p:nvPr/>
        </p:nvSpPr>
        <p:spPr>
          <a:xfrm>
            <a:off x="667657" y="3779520"/>
            <a:ext cx="30332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Автор: Огарков Никита Сергеевич</a:t>
            </a:r>
            <a:br>
              <a:rPr lang="ru-RU" dirty="0">
                <a:solidFill>
                  <a:schemeClr val="bg1"/>
                </a:solidFill>
              </a:rPr>
            </a:br>
            <a:r>
              <a:rPr lang="ru-RU" dirty="0">
                <a:solidFill>
                  <a:schemeClr val="bg1"/>
                </a:solidFill>
              </a:rPr>
              <a:t>2026 </a:t>
            </a:r>
            <a:r>
              <a:rPr lang="en-US" dirty="0">
                <a:solidFill>
                  <a:schemeClr val="bg1"/>
                </a:solidFill>
              </a:rPr>
              <a:t>/</a:t>
            </a:r>
            <a:r>
              <a:rPr lang="ru-RU" dirty="0">
                <a:solidFill>
                  <a:schemeClr val="bg1"/>
                </a:solidFill>
              </a:rPr>
              <a:t> НИУ ВШЭ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Актуальность и ценность задачи</a:t>
            </a:r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25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1" dirty="0"/>
              <a:t>Почему задача важна</a:t>
            </a:r>
            <a:r>
              <a:rPr lang="ru-RU" sz="7200" dirty="0"/>
              <a:t>:</a:t>
            </a:r>
          </a:p>
          <a:p>
            <a:pPr marL="457200" lvl="0" indent="-3429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ru-RU" sz="7200" dirty="0"/>
              <a:t>Табличные данные — основной формат в финансах, медицине, промышленности</a:t>
            </a:r>
          </a:p>
          <a:p>
            <a:pPr marL="4572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ru-RU" sz="7200" dirty="0"/>
              <a:t>Классические модели остаются стандартом, но </a:t>
            </a:r>
            <a:r>
              <a:rPr lang="ru-RU" sz="7200" dirty="0" err="1"/>
              <a:t>нейросетевые</a:t>
            </a:r>
            <a:r>
              <a:rPr lang="ru-RU" sz="7200" dirty="0"/>
              <a:t> подходы для табличных данных активно развиваются</a:t>
            </a:r>
          </a:p>
          <a:p>
            <a:pPr>
              <a:lnSpc>
                <a:spcPct val="120000"/>
              </a:lnSpc>
            </a:pPr>
            <a:r>
              <a:rPr lang="ru-RU" sz="7200" dirty="0" err="1"/>
              <a:t>TabNet</a:t>
            </a:r>
            <a:r>
              <a:rPr lang="ru-RU" sz="7200" dirty="0"/>
              <a:t> предлагает новый подход: обучение без ручного </a:t>
            </a:r>
            <a:r>
              <a:rPr lang="ru-RU" sz="7200" dirty="0" err="1"/>
              <a:t>feature</a:t>
            </a:r>
            <a:r>
              <a:rPr lang="ru-RU" sz="7200" dirty="0"/>
              <a:t> </a:t>
            </a:r>
            <a:r>
              <a:rPr lang="ru-RU" sz="7200" dirty="0" err="1"/>
              <a:t>engineering</a:t>
            </a:r>
            <a:r>
              <a:rPr lang="ru-RU" sz="7200" dirty="0"/>
              <a:t> и встроенную интерпретируемость.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7200" dirty="0"/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7200" b="1" dirty="0"/>
              <a:t>Ценность работы</a:t>
            </a:r>
            <a:r>
              <a:rPr lang="ru-RU" sz="7200" dirty="0"/>
              <a:t>:</a:t>
            </a:r>
          </a:p>
          <a:p>
            <a:pPr>
              <a:lnSpc>
                <a:spcPct val="120000"/>
              </a:lnSpc>
            </a:pPr>
            <a:r>
              <a:rPr lang="ru-RU" sz="7200" dirty="0"/>
              <a:t>Проверка, может ли </a:t>
            </a:r>
            <a:r>
              <a:rPr lang="ru-RU" sz="7200" dirty="0" err="1"/>
              <a:t>TabNet</a:t>
            </a:r>
            <a:r>
              <a:rPr lang="ru-RU" sz="7200" dirty="0"/>
              <a:t> конкурировать с </a:t>
            </a:r>
            <a:r>
              <a:rPr lang="ru-RU" sz="7200" dirty="0" err="1"/>
              <a:t>бустингами</a:t>
            </a:r>
            <a:endParaRPr lang="ru-RU" sz="7200" dirty="0"/>
          </a:p>
          <a:p>
            <a:pPr>
              <a:lnSpc>
                <a:spcPct val="120000"/>
              </a:lnSpc>
            </a:pPr>
            <a:r>
              <a:rPr lang="ru-RU" sz="7200" dirty="0"/>
              <a:t>Анализ поведения моделей на больших данных</a:t>
            </a:r>
            <a:br>
              <a:rPr lang="ru-RU" dirty="0"/>
            </a:br>
            <a:endParaRPr lang="ru-RU" dirty="0"/>
          </a:p>
        </p:txBody>
      </p:sp>
      <p:sp>
        <p:nvSpPr>
          <p:cNvPr id="87" name="Google Shape;87;p16"/>
          <p:cNvSpPr txBox="1"/>
          <p:nvPr/>
        </p:nvSpPr>
        <p:spPr>
          <a:xfrm>
            <a:off x="6368616" y="288265"/>
            <a:ext cx="250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ЦЕНТР НЕПРЕРЫВНОГО ОБРАЗОВАНИЯ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ФАКУЛЬТЕТ КОМПЬЮТЕРНЫХ НАУК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497" y="303375"/>
            <a:ext cx="402350" cy="4042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0724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6B"/>
                </a:solidFill>
              </a:rPr>
              <a:t>Постановка задачи</a:t>
            </a:r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lnSpc>
                <a:spcPct val="100000"/>
              </a:lnSpc>
              <a:buFont typeface="Times New Roman" panose="02020603050405020304" pitchFamily="18" charset="0"/>
              <a:buChar char="●"/>
            </a:pPr>
            <a:r>
              <a:rPr lang="ru-RU" dirty="0">
                <a:solidFill>
                  <a:schemeClr val="lt1"/>
                </a:solidFill>
              </a:rPr>
              <a:t>Реализовать предобработку данных</a:t>
            </a:r>
          </a:p>
          <a:p>
            <a:pPr marL="285750" indent="-285750">
              <a:lnSpc>
                <a:spcPct val="100000"/>
              </a:lnSpc>
            </a:pPr>
            <a:r>
              <a:rPr lang="ru-RU" dirty="0">
                <a:solidFill>
                  <a:schemeClr val="lt1"/>
                </a:solidFill>
              </a:rPr>
              <a:t>Обучить модели: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</a:rPr>
              <a:t>Logistic Regression</a:t>
            </a:r>
            <a:endParaRPr lang="ru-RU" sz="1800" dirty="0">
              <a:solidFill>
                <a:schemeClr val="lt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lt1"/>
                </a:solidFill>
              </a:rPr>
              <a:t>Random Forest</a:t>
            </a:r>
            <a:endParaRPr lang="ru-RU" sz="1800" dirty="0">
              <a:solidFill>
                <a:schemeClr val="lt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</a:rPr>
              <a:t>XGBoost</a:t>
            </a:r>
            <a:endParaRPr lang="en-US" sz="1800" dirty="0">
              <a:solidFill>
                <a:schemeClr val="lt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</a:rPr>
              <a:t>LightGBM</a:t>
            </a:r>
            <a:endParaRPr lang="en-US" sz="1800" dirty="0">
              <a:solidFill>
                <a:schemeClr val="lt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</a:rPr>
              <a:t>CatBoost</a:t>
            </a:r>
            <a:endParaRPr lang="ru-RU" sz="1800" dirty="0">
              <a:solidFill>
                <a:schemeClr val="lt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chemeClr val="lt1"/>
                </a:solidFill>
              </a:rPr>
              <a:t>TabNet</a:t>
            </a:r>
            <a:endParaRPr lang="ru-RU" sz="1800" dirty="0">
              <a:solidFill>
                <a:schemeClr val="lt1"/>
              </a:solidFill>
            </a:endParaRPr>
          </a:p>
          <a:p>
            <a:pPr marL="285750" indent="-285750">
              <a:lnSpc>
                <a:spcPct val="100000"/>
              </a:lnSpc>
            </a:pPr>
            <a:r>
              <a:rPr lang="ru-RU" dirty="0">
                <a:solidFill>
                  <a:schemeClr val="lt1"/>
                </a:solidFill>
              </a:rPr>
              <a:t>Провести эксперименты</a:t>
            </a:r>
          </a:p>
          <a:p>
            <a:pPr marL="285750" indent="-285750">
              <a:lnSpc>
                <a:spcPct val="100000"/>
              </a:lnSpc>
            </a:pPr>
            <a:r>
              <a:rPr lang="ru-RU" dirty="0">
                <a:solidFill>
                  <a:schemeClr val="lt1"/>
                </a:solidFill>
              </a:rPr>
              <a:t>Сравнить качество и скорость</a:t>
            </a: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6700" y="302972"/>
            <a:ext cx="402350" cy="40465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 txBox="1"/>
          <p:nvPr/>
        </p:nvSpPr>
        <p:spPr>
          <a:xfrm>
            <a:off x="6444816" y="288265"/>
            <a:ext cx="250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ЦЕНТР НЕПРЕРЫВНОГО ОБРАЗОВАНИЯ</a:t>
            </a:r>
            <a:endParaRPr sz="9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ФАКУЛЬТЕТ КОМПЬЮТЕРНЫХ НАУК</a:t>
            </a:r>
            <a:endParaRPr sz="9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Используемые данные</a:t>
            </a:r>
            <a:endParaRPr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Smoking and Drinking Dataset</a:t>
            </a:r>
            <a:r>
              <a:rPr lang="en-US" dirty="0">
                <a:solidFill>
                  <a:schemeClr val="tx1"/>
                </a:solidFill>
              </a:rPr>
              <a:t>:</a:t>
            </a:r>
            <a:endParaRPr lang="ru-RU" dirty="0">
              <a:solidFill>
                <a:schemeClr val="tx1"/>
              </a:solidFill>
            </a:endParaRP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~991 000 объектов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24 исходных признака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Задача: классификация факта употребления алкоголя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Медицинские и антропометрические данные</a:t>
            </a:r>
          </a:p>
          <a:p>
            <a:pPr marL="285750" indent="-285750">
              <a:lnSpc>
                <a:spcPct val="100000"/>
              </a:lnSpc>
            </a:pPr>
            <a:r>
              <a:rPr lang="en-US" b="1" dirty="0">
                <a:solidFill>
                  <a:schemeClr val="tx1"/>
                </a:solidFill>
              </a:rPr>
              <a:t>HIGGS</a:t>
            </a:r>
            <a:r>
              <a:rPr lang="ru-RU" dirty="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~11 млн объектов (использована </a:t>
            </a:r>
            <a:r>
              <a:rPr lang="ru-RU" sz="1800" dirty="0" err="1">
                <a:solidFill>
                  <a:schemeClr val="tx1"/>
                </a:solidFill>
              </a:rPr>
              <a:t>подвыборка</a:t>
            </a:r>
            <a:r>
              <a:rPr lang="ru-RU" sz="1800" dirty="0">
                <a:solidFill>
                  <a:schemeClr val="tx1"/>
                </a:solidFill>
              </a:rPr>
              <a:t> 1/11)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28 числовых признаков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tx1"/>
                </a:solidFill>
              </a:rPr>
              <a:t>Задача: классификация событий бозона </a:t>
            </a:r>
            <a:r>
              <a:rPr lang="ru-RU" sz="1800" dirty="0" err="1">
                <a:solidFill>
                  <a:schemeClr val="tx1"/>
                </a:solidFill>
              </a:rPr>
              <a:t>Хиггса</a:t>
            </a:r>
            <a:endParaRPr lang="ru-RU" sz="1800" dirty="0">
              <a:solidFill>
                <a:schemeClr val="tx1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6368616" y="288265"/>
            <a:ext cx="2504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ЦЕНТР НЕПРЕРЫВНОГО ОБРАЗОВАНИЯ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9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ФАКУЛЬТЕТ КОМПЬЮТЕРНЫХ НАУК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0497" y="303375"/>
            <a:ext cx="402350" cy="404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6B"/>
                </a:solidFill>
              </a:rPr>
              <a:t>Подготовка данных</a:t>
            </a:r>
            <a:endParaRPr dirty="0">
              <a:solidFill>
                <a:srgbClr val="FFFF6B"/>
              </a:solidFill>
            </a:endParaRP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</a:rPr>
              <a:t>Процесс обработки: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Удаление дубликатов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Проверка пропусков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Обнаружение выбросов (</a:t>
            </a:r>
            <a:r>
              <a:rPr lang="en-US" dirty="0">
                <a:solidFill>
                  <a:schemeClr val="lt1"/>
                </a:solidFill>
              </a:rPr>
              <a:t>Z-score &gt; 3)</a:t>
            </a:r>
            <a:endParaRPr lang="ru-RU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Масштабирование (</a:t>
            </a:r>
            <a:r>
              <a:rPr lang="en-US" dirty="0" err="1">
                <a:solidFill>
                  <a:schemeClr val="lt1"/>
                </a:solidFill>
              </a:rPr>
              <a:t>StandardScaler</a:t>
            </a:r>
            <a:r>
              <a:rPr lang="en-US" dirty="0">
                <a:solidFill>
                  <a:schemeClr val="lt1"/>
                </a:solidFill>
              </a:rPr>
              <a:t>)</a:t>
            </a:r>
            <a:endParaRPr lang="ru-RU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Трансформация распределений (</a:t>
            </a:r>
            <a:r>
              <a:rPr lang="en-US" dirty="0">
                <a:solidFill>
                  <a:schemeClr val="lt1"/>
                </a:solidFill>
              </a:rPr>
              <a:t>Yeo–Johnson)</a:t>
            </a:r>
            <a:endParaRPr lang="ru-RU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Генерация признаков (</a:t>
            </a:r>
            <a:r>
              <a:rPr lang="en-US" dirty="0" err="1">
                <a:solidFill>
                  <a:schemeClr val="lt1"/>
                </a:solidFill>
              </a:rPr>
              <a:t>PolynomialFeatures</a:t>
            </a:r>
            <a:r>
              <a:rPr lang="ru-RU" dirty="0">
                <a:solidFill>
                  <a:schemeClr val="lt1"/>
                </a:solidFill>
              </a:rPr>
              <a:t>)</a:t>
            </a: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Эксперименты</a:t>
            </a:r>
            <a:endParaRPr dirty="0"/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Сценарий 1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— рост объёма данных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10k → ~1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млн объектов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Сценарий 2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— рост числа признаков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от 10 до 299 (</a:t>
            </a: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Smoking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от 10 до 434 (HIGGS)</a:t>
            </a:r>
          </a:p>
          <a:p>
            <a:pPr marL="114300" indent="0">
              <a:lnSpc>
                <a:spcPct val="100000"/>
              </a:lnSpc>
              <a:buNone/>
            </a:pPr>
            <a:endParaRPr lang="ru-RU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Для каждого сочетания</a:t>
            </a:r>
          </a:p>
          <a:p>
            <a:pPr>
              <a:lnSpc>
                <a:spcPct val="100000"/>
              </a:lnSpc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отдельный </a:t>
            </a: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датасет</a:t>
            </a:r>
            <a:endParaRPr lang="ru-RU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отдельное обучение</a:t>
            </a:r>
          </a:p>
          <a:p>
            <a:pPr>
              <a:lnSpc>
                <a:spcPct val="100000"/>
              </a:lnSpc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замер качества и времени</a:t>
            </a:r>
          </a:p>
          <a:p>
            <a:pPr marL="285750" indent="-285750"/>
            <a:endParaRPr lang="ru-RU" dirty="0"/>
          </a:p>
          <a:p>
            <a:pPr marL="114300" indent="0">
              <a:buNone/>
            </a:pPr>
            <a:endParaRPr lang="ru-RU" dirty="0"/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6B"/>
                </a:solidFill>
              </a:rPr>
              <a:t>Метрики оценки</a:t>
            </a:r>
            <a:endParaRPr dirty="0">
              <a:solidFill>
                <a:srgbClr val="FFFF6B"/>
              </a:solidFill>
            </a:endParaRPr>
          </a:p>
        </p:txBody>
      </p:sp>
      <p:sp>
        <p:nvSpPr>
          <p:cNvPr id="110" name="Google Shape;110;p19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lt1"/>
                </a:solidFill>
              </a:rPr>
              <a:t>Используемые метрики: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Accuracy — </a:t>
            </a:r>
            <a:r>
              <a:rPr lang="ru-RU" dirty="0">
                <a:solidFill>
                  <a:schemeClr val="lt1"/>
                </a:solidFill>
              </a:rPr>
              <a:t>общая точность</a:t>
            </a:r>
            <a:endParaRPr lang="en-US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F1-score — </a:t>
            </a:r>
            <a:r>
              <a:rPr lang="ru-RU" dirty="0">
                <a:solidFill>
                  <a:schemeClr val="lt1"/>
                </a:solidFill>
              </a:rPr>
              <a:t>баланс </a:t>
            </a:r>
            <a:r>
              <a:rPr lang="en-US" dirty="0">
                <a:solidFill>
                  <a:schemeClr val="lt1"/>
                </a:solidFill>
              </a:rPr>
              <a:t>Precision / Recall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AUC-ROC — </a:t>
            </a:r>
            <a:r>
              <a:rPr lang="ru-RU" dirty="0">
                <a:solidFill>
                  <a:schemeClr val="lt1"/>
                </a:solidFill>
              </a:rPr>
              <a:t>устойчивость к порогу</a:t>
            </a:r>
            <a:endParaRPr lang="en-US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Training Time — </a:t>
            </a:r>
            <a:r>
              <a:rPr lang="ru-RU" dirty="0">
                <a:solidFill>
                  <a:schemeClr val="lt1"/>
                </a:solidFill>
              </a:rPr>
              <a:t>время обучения</a:t>
            </a:r>
            <a:endParaRPr lang="en-US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Prediction Time — </a:t>
            </a:r>
            <a:r>
              <a:rPr lang="ru-RU" dirty="0">
                <a:solidFill>
                  <a:schemeClr val="lt1"/>
                </a:solidFill>
              </a:rPr>
              <a:t>время прогноза</a:t>
            </a: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TabNet</a:t>
            </a:r>
            <a:r>
              <a:rPr lang="en-US" dirty="0"/>
              <a:t> — </a:t>
            </a:r>
            <a:r>
              <a:rPr lang="ru-RU" dirty="0"/>
              <a:t>ключевая идея</a:t>
            </a:r>
          </a:p>
        </p:txBody>
      </p:sp>
      <p:sp>
        <p:nvSpPr>
          <p:cNvPr id="122" name="Google Shape;122;p20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Что такое </a:t>
            </a:r>
            <a:r>
              <a:rPr lang="en-US" b="1" dirty="0" err="1">
                <a:latin typeface="Roboto" panose="02000000000000000000" pitchFamily="2" charset="0"/>
                <a:ea typeface="Roboto" panose="02000000000000000000" pitchFamily="2" charset="0"/>
              </a:rPr>
              <a:t>TabNet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Глубокая нейросеть для табличных данных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indent="-317500">
              <a:lnSpc>
                <a:spcPct val="100000"/>
              </a:lnSpc>
              <a:buSzPts val="1400"/>
              <a:buFont typeface="Arial"/>
              <a:buChar char="●"/>
            </a:pPr>
            <a:r>
              <a:rPr lang="ru-RU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Использует:</a:t>
            </a: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</a:rPr>
              <a:t>последовательное внимание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latin typeface="Roboto" panose="02000000000000000000" pitchFamily="2" charset="0"/>
                <a:ea typeface="Roboto" panose="02000000000000000000" pitchFamily="2" charset="0"/>
              </a:rPr>
              <a:t>разреженный отбор признаков</a:t>
            </a:r>
            <a:endParaRPr lang="en-US" sz="18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indent="-317500">
              <a:lnSpc>
                <a:spcPct val="100000"/>
              </a:lnSpc>
              <a:buSzPts val="1400"/>
              <a:buFont typeface="Arial"/>
              <a:buChar char="●"/>
            </a:pPr>
            <a:r>
              <a:rPr lang="ru-RU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Интерпретируема по умолчанию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Принципиальное отличие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indent="-317500">
              <a:lnSpc>
                <a:spcPct val="100000"/>
              </a:lnSpc>
              <a:buSzPts val="1400"/>
              <a:buFont typeface="Arial"/>
              <a:buChar char="●"/>
            </a:pPr>
            <a:r>
              <a:rPr lang="ru-RU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Отбор признаков индивидуален для каждого объекта</a:t>
            </a:r>
          </a:p>
          <a:p>
            <a:pPr indent="-317500">
              <a:lnSpc>
                <a:spcPct val="100000"/>
              </a:lnSpc>
              <a:buSzPts val="1400"/>
              <a:buFont typeface="Arial"/>
              <a:buChar char="●"/>
            </a:pPr>
            <a:r>
              <a:rPr lang="ru-RU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Модель не требует дополнительных методов, чтобы объяснить свои решения</a:t>
            </a:r>
            <a:endParaRPr lang="ru-RU" dirty="0">
              <a:solidFill>
                <a:schemeClr val="lt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Эксперименты: рост объёма данных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757945"/>
            <a:ext cx="8520600" cy="358233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Smoking and Drinking Dataset with body signal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                                                 </a:t>
            </a:r>
            <a:r>
              <a:rPr lang="en-US" dirty="0">
                <a:solidFill>
                  <a:schemeClr val="tx1"/>
                </a:solidFill>
              </a:rPr>
              <a:t>HIGGS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A315CE-FA77-4A6D-B366-746723F80A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937" y="1181078"/>
            <a:ext cx="4954830" cy="1556994"/>
          </a:xfrm>
          <a:prstGeom prst="rect">
            <a:avLst/>
          </a:prstGeom>
          <a:solidFill>
            <a:schemeClr val="tx1"/>
          </a:solidFill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32A8926-0603-417D-AF30-53AADD6350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937" y="3091407"/>
            <a:ext cx="4954831" cy="155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61737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Эксперименты: рост объёма данных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757945"/>
            <a:ext cx="8520600" cy="358233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Smoking and Drinking Dataset with body signal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                                                 </a:t>
            </a:r>
            <a:r>
              <a:rPr lang="en-US" dirty="0">
                <a:solidFill>
                  <a:schemeClr val="tx1"/>
                </a:solidFill>
              </a:rPr>
              <a:t>HIGGS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9ECA26D-D10D-481B-BBAA-511FE0363B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937" y="1160302"/>
            <a:ext cx="4954831" cy="1556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977F02C-D830-4EA6-85AE-D8046EF3D5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937" y="3091406"/>
            <a:ext cx="4982266" cy="1556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5371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rgbClr val="FFFF6B"/>
                </a:solidFill>
              </a:rPr>
              <a:t>Результаты: рост объёма данных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lt1"/>
                </a:solidFill>
              </a:rPr>
              <a:t>Общие наблюдения</a:t>
            </a:r>
            <a:r>
              <a:rPr lang="ru-RU" dirty="0">
                <a:solidFill>
                  <a:schemeClr val="lt1"/>
                </a:solidFill>
              </a:rPr>
              <a:t>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Качество всех моделей растёт с объёмом данных</a:t>
            </a:r>
            <a:endParaRPr lang="en-US" dirty="0">
              <a:solidFill>
                <a:schemeClr val="lt1"/>
              </a:solidFill>
            </a:endParaRP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>
                <a:solidFill>
                  <a:schemeClr val="lt1"/>
                </a:solidFill>
              </a:rPr>
              <a:t>На больших выборках различия усиливаются</a:t>
            </a: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lt1"/>
                </a:solidFill>
              </a:rPr>
              <a:t>Лидеры</a:t>
            </a:r>
            <a:r>
              <a:rPr lang="ru-RU" dirty="0">
                <a:solidFill>
                  <a:schemeClr val="lt1"/>
                </a:solidFill>
              </a:rPr>
              <a:t>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 err="1">
                <a:solidFill>
                  <a:schemeClr val="lt1"/>
                </a:solidFill>
              </a:rPr>
              <a:t>TabNet</a:t>
            </a:r>
            <a:r>
              <a:rPr lang="en-US" dirty="0">
                <a:solidFill>
                  <a:schemeClr val="lt1"/>
                </a:solidFill>
              </a:rPr>
              <a:t> — </a:t>
            </a:r>
            <a:r>
              <a:rPr lang="ru-RU" dirty="0">
                <a:solidFill>
                  <a:schemeClr val="lt1"/>
                </a:solidFill>
              </a:rPr>
              <a:t>лидер на больших данных, но самый медленный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 err="1">
                <a:solidFill>
                  <a:schemeClr val="lt1"/>
                </a:solidFill>
              </a:rPr>
              <a:t>CatBoost</a:t>
            </a:r>
            <a:r>
              <a:rPr lang="ru-RU" dirty="0">
                <a:solidFill>
                  <a:schemeClr val="lt1"/>
                </a:solidFill>
              </a:rPr>
              <a:t> / </a:t>
            </a:r>
            <a:r>
              <a:rPr lang="ru-RU" dirty="0" err="1">
                <a:solidFill>
                  <a:schemeClr val="lt1"/>
                </a:solidFill>
              </a:rPr>
              <a:t>XGBoost</a:t>
            </a:r>
            <a:r>
              <a:rPr lang="ru-RU" dirty="0">
                <a:solidFill>
                  <a:schemeClr val="lt1"/>
                </a:solidFill>
              </a:rPr>
              <a:t> / </a:t>
            </a:r>
            <a:r>
              <a:rPr lang="ru-RU" dirty="0" err="1">
                <a:solidFill>
                  <a:schemeClr val="lt1"/>
                </a:solidFill>
              </a:rPr>
              <a:t>LightGBM</a:t>
            </a:r>
            <a:r>
              <a:rPr lang="ru-RU" dirty="0">
                <a:solidFill>
                  <a:schemeClr val="lt1"/>
                </a:solidFill>
              </a:rPr>
              <a:t> — компромисс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solidFill>
                  <a:schemeClr val="lt1"/>
                </a:solidFill>
              </a:rPr>
              <a:t>Интересно</a:t>
            </a:r>
            <a:r>
              <a:rPr lang="ru-RU" dirty="0">
                <a:solidFill>
                  <a:schemeClr val="lt1"/>
                </a:solidFill>
              </a:rPr>
              <a:t>: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ru-RU" dirty="0" err="1">
                <a:solidFill>
                  <a:schemeClr val="lt1"/>
                </a:solidFill>
              </a:rPr>
              <a:t>Logistic</a:t>
            </a:r>
            <a:r>
              <a:rPr lang="ru-RU" dirty="0">
                <a:solidFill>
                  <a:schemeClr val="lt1"/>
                </a:solidFill>
              </a:rPr>
              <a:t> </a:t>
            </a:r>
            <a:r>
              <a:rPr lang="ru-RU" dirty="0" err="1">
                <a:solidFill>
                  <a:schemeClr val="lt1"/>
                </a:solidFill>
              </a:rPr>
              <a:t>Regression</a:t>
            </a:r>
            <a:r>
              <a:rPr lang="ru-RU" dirty="0">
                <a:solidFill>
                  <a:schemeClr val="lt1"/>
                </a:solidFill>
              </a:rPr>
              <a:t> неожиданно сильна на больших данных</a:t>
            </a:r>
          </a:p>
          <a:p>
            <a:pPr marL="45720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US" dirty="0">
                <a:solidFill>
                  <a:schemeClr val="lt1"/>
                </a:solidFill>
              </a:rPr>
              <a:t>Random Forest </a:t>
            </a:r>
            <a:r>
              <a:rPr lang="ru-RU" dirty="0">
                <a:solidFill>
                  <a:schemeClr val="lt1"/>
                </a:solidFill>
              </a:rPr>
              <a:t>хуже масштабируется</a:t>
            </a:r>
            <a:endParaRPr lang="en-US" dirty="0">
              <a:solidFill>
                <a:schemeClr val="lt1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45812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Эксперименты: рост числа признаков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757945"/>
            <a:ext cx="8520600" cy="358233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Smoking and Drinking Dataset with body signal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                                                 </a:t>
            </a:r>
            <a:r>
              <a:rPr lang="en-US" dirty="0">
                <a:solidFill>
                  <a:schemeClr val="tx1"/>
                </a:solidFill>
              </a:rPr>
              <a:t>HIGGS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4C6450-5DD1-479A-99AD-ED1F44EA8A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25938" y="1153469"/>
            <a:ext cx="4954830" cy="1556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B44889D-0893-45DB-86BC-1A42E835D0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25938" y="3078477"/>
            <a:ext cx="4954830" cy="1556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950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Эксперименты: рост числа признаков</a:t>
            </a:r>
          </a:p>
        </p:txBody>
      </p:sp>
      <p:sp>
        <p:nvSpPr>
          <p:cNvPr id="94" name="Google Shape;94;p17"/>
          <p:cNvSpPr txBox="1">
            <a:spLocks noGrp="1"/>
          </p:cNvSpPr>
          <p:nvPr>
            <p:ph type="body" idx="1"/>
          </p:nvPr>
        </p:nvSpPr>
        <p:spPr>
          <a:xfrm>
            <a:off x="311700" y="757945"/>
            <a:ext cx="8520600" cy="358233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                     Smoking and Drinking Dataset with body signal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1"/>
                </a:solidFill>
              </a:rPr>
              <a:t>                                                           </a:t>
            </a:r>
            <a:r>
              <a:rPr lang="en-US" dirty="0">
                <a:solidFill>
                  <a:schemeClr val="tx1"/>
                </a:solidFill>
              </a:rPr>
              <a:t>HIGGS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A741E37-B474-49BB-8E04-386A8F44D6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3700" y="1177685"/>
            <a:ext cx="4954832" cy="1556995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020F283-B733-4ECC-A7F2-B293E38088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33270" y="3078654"/>
            <a:ext cx="4965262" cy="157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28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Результаты: рост числа признаков</a:t>
            </a:r>
          </a:p>
        </p:txBody>
      </p:sp>
      <p:sp>
        <p:nvSpPr>
          <p:cNvPr id="102" name="Google Shape;102;p18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</a:rPr>
              <a:t>Ключевые выводы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:</a:t>
            </a:r>
            <a:endParaRPr lang="ru-RU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TabNet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особенно выигрывает при 200+ признаках</a:t>
            </a:r>
            <a:endParaRPr lang="en-US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Качество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</a:rPr>
              <a:t>TabNet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</a:rPr>
              <a:t> растёт вместе с размерностью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>
              <a:lnSpc>
                <a:spcPct val="100000"/>
              </a:lnSpc>
            </a:pP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Бустинги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держатся близко, но уступают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Random Forest 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деградирует</a:t>
            </a:r>
          </a:p>
          <a:p>
            <a:pPr>
              <a:lnSpc>
                <a:spcPct val="100000"/>
              </a:lnSpc>
            </a:pP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Logistic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</a:t>
            </a:r>
            <a:r>
              <a:rPr lang="ru-RU" sz="1800" dirty="0" err="1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Regression</a:t>
            </a:r>
            <a:r>
              <a:rPr lang="ru-RU" sz="180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Times New Roman" panose="02020603050405020304" pitchFamily="18" charset="0"/>
              </a:rPr>
              <a:t> — быстрый, но слабый</a:t>
            </a:r>
            <a:endParaRPr lang="en-US" sz="1800" dirty="0">
              <a:effectLst/>
              <a:latin typeface="Roboto" panose="02000000000000000000" pitchFamily="2" charset="0"/>
              <a:ea typeface="Roboto" panose="02000000000000000000" pitchFamily="2" charset="0"/>
              <a:cs typeface="Times New Roman" panose="02020603050405020304" pitchFamily="18" charset="0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32183" y="3391479"/>
            <a:ext cx="838842" cy="12569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05105" y="2476688"/>
            <a:ext cx="833935" cy="12569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61257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Сравнение моделей по качеству и скорости</a:t>
            </a:r>
            <a:r>
              <a:rPr lang="en-US" dirty="0">
                <a:solidFill>
                  <a:schemeClr val="tx1"/>
                </a:solidFill>
              </a:rPr>
              <a:t> (Smoking)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D711CDE-EB1B-4234-8696-C4BA2C02C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78441"/>
              </p:ext>
            </p:extLst>
          </p:nvPr>
        </p:nvGraphicFramePr>
        <p:xfrm>
          <a:off x="310602" y="719545"/>
          <a:ext cx="8521698" cy="3383280"/>
        </p:xfrm>
        <a:graphic>
          <a:graphicData uri="http://schemas.openxmlformats.org/drawingml/2006/table">
            <a:tbl>
              <a:tblPr/>
              <a:tblGrid>
                <a:gridCol w="1420283">
                  <a:extLst>
                    <a:ext uri="{9D8B030D-6E8A-4147-A177-3AD203B41FA5}">
                      <a16:colId xmlns:a16="http://schemas.microsoft.com/office/drawing/2014/main" val="686600065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3469662030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2353887742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587461486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2094263502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348087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Time (</a:t>
                      </a:r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сек)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Prediction Time (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сек)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33677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TabNet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0.7412</a:t>
                      </a:r>
                      <a:endParaRPr lang="ru-RU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0.7412</a:t>
                      </a:r>
                      <a:endParaRPr lang="ru-RU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0.8250</a:t>
                      </a:r>
                      <a:endParaRPr lang="ru-RU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1102.06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3.6397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79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CatBoost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11.56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0.1317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0040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LightGBM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0.7404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0.8237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28.00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0.6787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21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XGBoost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14.59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0.1911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408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Logistic Regression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0.7384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536.77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0.1112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8105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Random Forest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0.7308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0.7307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93.58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1.6924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0834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16639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Сравнение моделей по качеству и скорости</a:t>
            </a:r>
            <a:r>
              <a:rPr lang="en-US" dirty="0">
                <a:solidFill>
                  <a:schemeClr val="tx1"/>
                </a:solidFill>
              </a:rPr>
              <a:t> (HIGGS)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D711CDE-EB1B-4234-8696-C4BA2C02CD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118883"/>
              </p:ext>
            </p:extLst>
          </p:nvPr>
        </p:nvGraphicFramePr>
        <p:xfrm>
          <a:off x="310602" y="719545"/>
          <a:ext cx="8521698" cy="3383280"/>
        </p:xfrm>
        <a:graphic>
          <a:graphicData uri="http://schemas.openxmlformats.org/drawingml/2006/table">
            <a:tbl>
              <a:tblPr/>
              <a:tblGrid>
                <a:gridCol w="1420283">
                  <a:extLst>
                    <a:ext uri="{9D8B030D-6E8A-4147-A177-3AD203B41FA5}">
                      <a16:colId xmlns:a16="http://schemas.microsoft.com/office/drawing/2014/main" val="686600065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3469662030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2353887742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587461486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2094263502"/>
                    </a:ext>
                  </a:extLst>
                </a:gridCol>
                <a:gridCol w="1420283">
                  <a:extLst>
                    <a:ext uri="{9D8B030D-6E8A-4147-A177-3AD203B41FA5}">
                      <a16:colId xmlns:a16="http://schemas.microsoft.com/office/drawing/2014/main" val="3480878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F1 Score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ROC-AUC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Training Time (</a:t>
                      </a:r>
                      <a:r>
                        <a:rPr lang="ru-RU" sz="180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сек)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Prediction Time (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сек)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33677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TabNet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508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501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</a:t>
                      </a:r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338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11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60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59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3667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799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CatBoost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7377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374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186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16</a:t>
                      </a:r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75</a:t>
                      </a:r>
                      <a:endParaRPr lang="ru-RU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</a:t>
                      </a:r>
                      <a:r>
                        <a:rPr lang="en-US" sz="1800" b="1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0802</a:t>
                      </a:r>
                      <a:endParaRPr lang="ru-RU" sz="1800" b="1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00409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LightGBM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346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344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150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32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77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8534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216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XGBoost</a:t>
                      </a:r>
                      <a:endParaRPr lang="en-US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406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404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0.82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18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27</a:t>
                      </a:r>
                      <a:r>
                        <a:rPr lang="ru-RU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53</a:t>
                      </a:r>
                      <a:endParaRPr lang="ru-RU" sz="1800" b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2337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40816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Logistic Regression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022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006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7675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727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6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</a:t>
                      </a:r>
                      <a:r>
                        <a:rPr lang="ru-RU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b="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0552</a:t>
                      </a:r>
                      <a:endParaRPr lang="ru-RU" sz="1800" b="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081054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Random Forest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226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0.7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227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0.8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001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218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43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3</a:t>
                      </a:r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.</a:t>
                      </a:r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1751</a:t>
                      </a:r>
                      <a:endParaRPr lang="ru-RU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08345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26061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Сравнение моделей по числу ошибок </a:t>
            </a:r>
            <a:r>
              <a:rPr lang="en-US" dirty="0">
                <a:solidFill>
                  <a:schemeClr val="tx1"/>
                </a:solidFill>
              </a:rPr>
              <a:t>(Smoking)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8922E01-C85C-42D6-89FB-179589967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97" y="835071"/>
            <a:ext cx="4762591" cy="2947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FA367ED6-0770-4BE6-8EFF-3B42D6652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478327"/>
              </p:ext>
            </p:extLst>
          </p:nvPr>
        </p:nvGraphicFramePr>
        <p:xfrm>
          <a:off x="5007766" y="883179"/>
          <a:ext cx="3687726" cy="2104748"/>
        </p:xfrm>
        <a:graphic>
          <a:graphicData uri="http://schemas.openxmlformats.org/drawingml/2006/table">
            <a:tbl>
              <a:tblPr/>
              <a:tblGrid>
                <a:gridCol w="1229242">
                  <a:extLst>
                    <a:ext uri="{9D8B030D-6E8A-4147-A177-3AD203B41FA5}">
                      <a16:colId xmlns:a16="http://schemas.microsoft.com/office/drawing/2014/main" val="686600065"/>
                    </a:ext>
                  </a:extLst>
                </a:gridCol>
                <a:gridCol w="1229242">
                  <a:extLst>
                    <a:ext uri="{9D8B030D-6E8A-4147-A177-3AD203B41FA5}">
                      <a16:colId xmlns:a16="http://schemas.microsoft.com/office/drawing/2014/main" val="3469662030"/>
                    </a:ext>
                  </a:extLst>
                </a:gridCol>
                <a:gridCol w="1229242">
                  <a:extLst>
                    <a:ext uri="{9D8B030D-6E8A-4147-A177-3AD203B41FA5}">
                      <a16:colId xmlns:a16="http://schemas.microsoft.com/office/drawing/2014/main" val="2353887742"/>
                    </a:ext>
                  </a:extLst>
                </a:gridCol>
              </a:tblGrid>
              <a:tr h="366410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33677582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TabNet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19 892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18 589</a:t>
                      </a:r>
                      <a:endParaRPr lang="ru-RU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799100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CatBoost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19 396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19 343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00409598"/>
                  </a:ext>
                </a:extLst>
              </a:tr>
              <a:tr h="639108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LightGBM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19 706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18 968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216371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XGBoost</a:t>
                      </a:r>
                      <a:endParaRPr lang="en-US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19 366</a:t>
                      </a:r>
                      <a:endParaRPr lang="ru-RU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19 496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408169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F7B7C95-395E-483D-B2D9-C8B367D86FBB}"/>
              </a:ext>
            </a:extLst>
          </p:cNvPr>
          <p:cNvSpPr txBox="1"/>
          <p:nvPr/>
        </p:nvSpPr>
        <p:spPr>
          <a:xfrm>
            <a:off x="5392526" y="33690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sz="18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332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Сравнение моделей по числу ошибок </a:t>
            </a:r>
            <a:r>
              <a:rPr lang="en-US" dirty="0">
                <a:solidFill>
                  <a:schemeClr val="tx1"/>
                </a:solidFill>
              </a:rPr>
              <a:t>(HIGGS)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8922E01-C85C-42D6-89FB-179589967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97" y="835072"/>
            <a:ext cx="4039359" cy="2500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4E9E1F-1C8E-4A8D-A5F4-6D4AF1114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996" y="835071"/>
            <a:ext cx="4767739" cy="2951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B084134-C4CC-4B20-836D-C992022B04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32985"/>
              </p:ext>
            </p:extLst>
          </p:nvPr>
        </p:nvGraphicFramePr>
        <p:xfrm>
          <a:off x="5007766" y="883179"/>
          <a:ext cx="3687726" cy="2104748"/>
        </p:xfrm>
        <a:graphic>
          <a:graphicData uri="http://schemas.openxmlformats.org/drawingml/2006/table">
            <a:tbl>
              <a:tblPr/>
              <a:tblGrid>
                <a:gridCol w="1229242">
                  <a:extLst>
                    <a:ext uri="{9D8B030D-6E8A-4147-A177-3AD203B41FA5}">
                      <a16:colId xmlns:a16="http://schemas.microsoft.com/office/drawing/2014/main" val="686600065"/>
                    </a:ext>
                  </a:extLst>
                </a:gridCol>
                <a:gridCol w="1229242">
                  <a:extLst>
                    <a:ext uri="{9D8B030D-6E8A-4147-A177-3AD203B41FA5}">
                      <a16:colId xmlns:a16="http://schemas.microsoft.com/office/drawing/2014/main" val="3469662030"/>
                    </a:ext>
                  </a:extLst>
                </a:gridCol>
                <a:gridCol w="1229242">
                  <a:extLst>
                    <a:ext uri="{9D8B030D-6E8A-4147-A177-3AD203B41FA5}">
                      <a16:colId xmlns:a16="http://schemas.microsoft.com/office/drawing/2014/main" val="2353887742"/>
                    </a:ext>
                  </a:extLst>
                </a:gridCol>
              </a:tblGrid>
              <a:tr h="366410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Модель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FN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133677582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TabNet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18</a:t>
                      </a:r>
                      <a:r>
                        <a:rPr lang="en-US" sz="1800" b="1" dirty="0"/>
                        <a:t> </a:t>
                      </a:r>
                      <a:r>
                        <a:rPr lang="ru-RU" sz="1800" b="1" dirty="0"/>
                        <a:t>016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/>
                        <a:t>20</a:t>
                      </a:r>
                      <a:r>
                        <a:rPr lang="en-US" sz="1800" b="0" dirty="0"/>
                        <a:t> </a:t>
                      </a:r>
                      <a:r>
                        <a:rPr lang="ru-RU" sz="1800" b="0" dirty="0"/>
                        <a:t>081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48799100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CatBoost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20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390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18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896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00409598"/>
                  </a:ext>
                </a:extLst>
              </a:tr>
              <a:tr h="639108">
                <a:tc>
                  <a:txBody>
                    <a:bodyPr/>
                    <a:lstStyle/>
                    <a:p>
                      <a:r>
                        <a:rPr lang="en-US" sz="1800" b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LightGBM</a:t>
                      </a:r>
                      <a:endParaRPr lang="en-US" sz="180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20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506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19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271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917216371"/>
                  </a:ext>
                </a:extLst>
              </a:tr>
              <a:tr h="366410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XGBoost</a:t>
                      </a:r>
                      <a:endParaRPr lang="en-US" sz="1800" dirty="0"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0" dirty="0"/>
                        <a:t>20</a:t>
                      </a:r>
                      <a:r>
                        <a:rPr lang="en-US" sz="1800" b="0" dirty="0"/>
                        <a:t> </a:t>
                      </a:r>
                      <a:r>
                        <a:rPr lang="ru-RU" sz="1800" b="0" dirty="0"/>
                        <a:t>289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800" b="1" dirty="0"/>
                        <a:t>18</a:t>
                      </a:r>
                      <a:r>
                        <a:rPr lang="en-US" sz="1800" b="1" dirty="0"/>
                        <a:t> </a:t>
                      </a:r>
                      <a:r>
                        <a:rPr lang="ru-RU" sz="1800" b="1" dirty="0"/>
                        <a:t>533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gradFill>
                      <a:gsLst>
                        <a:gs pos="0">
                          <a:schemeClr val="accent1">
                            <a:lumMod val="5000"/>
                            <a:lumOff val="95000"/>
                          </a:schemeClr>
                        </a:gs>
                        <a:gs pos="100000">
                          <a:schemeClr val="accent1">
                            <a:lumMod val="75000"/>
                          </a:schemeClr>
                        </a:gs>
                        <a:gs pos="81000">
                          <a:schemeClr val="accent1">
                            <a:lumMod val="20000"/>
                            <a:lumOff val="80000"/>
                          </a:schemeClr>
                        </a:gs>
                        <a:gs pos="98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72408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99824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>
            <a:spLocks noGrp="1"/>
          </p:cNvSpPr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Основные выводы</a:t>
            </a:r>
          </a:p>
        </p:txBody>
      </p:sp>
      <p:sp>
        <p:nvSpPr>
          <p:cNvPr id="122" name="Google Shape;122;p20"/>
          <p:cNvSpPr txBox="1">
            <a:spLocks noGrp="1"/>
          </p:cNvSpPr>
          <p:nvPr>
            <p:ph type="body" idx="1"/>
          </p:nvPr>
        </p:nvSpPr>
        <p:spPr>
          <a:xfrm>
            <a:off x="311700" y="9238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chemeClr val="tx1"/>
                </a:solidFill>
              </a:rPr>
              <a:t>TabNet</a:t>
            </a:r>
            <a:r>
              <a:rPr lang="ru-RU" dirty="0">
                <a:solidFill>
                  <a:schemeClr val="tx1"/>
                </a:solidFill>
              </a:rPr>
              <a:t> — лидер по качеству на крупных табличных данных</a:t>
            </a:r>
            <a:r>
              <a:rPr lang="en-US" dirty="0">
                <a:solidFill>
                  <a:schemeClr val="tx1"/>
                </a:solidFill>
              </a:rPr>
              <a:t>:	</a:t>
            </a: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solidFill>
                  <a:schemeClr val="tx1"/>
                </a:solidFill>
              </a:rPr>
              <a:t>Меньше ошибается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solidFill>
                  <a:schemeClr val="tx1"/>
                </a:solidFill>
              </a:rPr>
              <a:t>Особенно эффективен при большом числе признаков</a:t>
            </a:r>
            <a:endParaRPr lang="en-US" sz="1800" dirty="0">
              <a:solidFill>
                <a:schemeClr val="tx1"/>
              </a:solidFill>
            </a:endParaRPr>
          </a:p>
          <a:p>
            <a:pPr marL="285750" indent="-285750">
              <a:lnSpc>
                <a:spcPct val="100000"/>
              </a:lnSpc>
            </a:pPr>
            <a:r>
              <a:rPr lang="ru-RU" sz="1800" dirty="0">
                <a:solidFill>
                  <a:schemeClr val="tx1"/>
                </a:solidFill>
              </a:rPr>
              <a:t>Долго обучается</a:t>
            </a:r>
          </a:p>
          <a:p>
            <a:pPr marL="857250" lvl="1" indent="-400050">
              <a:lnSpc>
                <a:spcPct val="100000"/>
              </a:lnSpc>
              <a:buFont typeface="+mj-lt"/>
              <a:buAutoNum type="romanUcPeriod"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err="1">
                <a:solidFill>
                  <a:schemeClr val="tx1"/>
                </a:solidFill>
              </a:rPr>
              <a:t>Бустинги</a:t>
            </a:r>
            <a:r>
              <a:rPr lang="ru-RU" dirty="0">
                <a:solidFill>
                  <a:schemeClr val="tx1"/>
                </a:solidFill>
              </a:rPr>
              <a:t> остаются хорошим компромиссом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Простые модели всё ещё конкурентоспособны как </a:t>
            </a:r>
            <a:r>
              <a:rPr lang="ru-RU" dirty="0" err="1">
                <a:solidFill>
                  <a:schemeClr val="tx1"/>
                </a:solidFill>
              </a:rPr>
              <a:t>бейзлайн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3" name="Google Shape;12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6148" y="4237498"/>
            <a:ext cx="651049" cy="52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70269" y="4157073"/>
            <a:ext cx="457011" cy="60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48378" y="4164733"/>
            <a:ext cx="585944" cy="5974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38460" y="4174945"/>
            <a:ext cx="591051" cy="58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88113" y="4280902"/>
            <a:ext cx="431480" cy="481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16064" y="4160903"/>
            <a:ext cx="453181" cy="6012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7604308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742</Words>
  <Application>Microsoft Office PowerPoint</Application>
  <PresentationFormat>Экран (16:9)</PresentationFormat>
  <Paragraphs>262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Times New Roman</vt:lpstr>
      <vt:lpstr>Roboto</vt:lpstr>
      <vt:lpstr>Simple Light</vt:lpstr>
      <vt:lpstr>Итоговый проект</vt:lpstr>
      <vt:lpstr>Актуальность и ценность задачи</vt:lpstr>
      <vt:lpstr>Постановка задачи</vt:lpstr>
      <vt:lpstr>Используемые данные</vt:lpstr>
      <vt:lpstr>Подготовка данных</vt:lpstr>
      <vt:lpstr>Эксперименты</vt:lpstr>
      <vt:lpstr>Метрики оценки</vt:lpstr>
      <vt:lpstr>TabNet — ключевая идея</vt:lpstr>
      <vt:lpstr>Эксперименты: рост объёма данных</vt:lpstr>
      <vt:lpstr>Эксперименты: рост объёма данных</vt:lpstr>
      <vt:lpstr>Результаты: рост объёма данных</vt:lpstr>
      <vt:lpstr>Эксперименты: рост числа признаков</vt:lpstr>
      <vt:lpstr>Эксперименты: рост числа признаков</vt:lpstr>
      <vt:lpstr>Результаты: рост числа признаков</vt:lpstr>
      <vt:lpstr>Сравнение моделей по качеству и скорости (Smoking)</vt:lpstr>
      <vt:lpstr>Сравнение моделей по качеству и скорости (HIGGS)</vt:lpstr>
      <vt:lpstr>Сравнение моделей по числу ошибок (Smoking)</vt:lpstr>
      <vt:lpstr>Сравнение моделей по числу ошибок (HIGGS)</vt:lpstr>
      <vt:lpstr>Основные 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Итоговый проект</dc:title>
  <cp:lastModifiedBy>Tita Tita</cp:lastModifiedBy>
  <cp:revision>42</cp:revision>
  <dcterms:modified xsi:type="dcterms:W3CDTF">2026-01-12T17:06:45Z</dcterms:modified>
</cp:coreProperties>
</file>